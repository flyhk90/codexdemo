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52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438912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YaHei"/>
              </a:rPr>
              <a:t>Serena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00200"/>
            <a:ext cx="6583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Microsoft YaHei"/>
              </a:rPr>
              <a:t>让 Codex 拥有 IDE 级代码理解能力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121408"/>
            <a:ext cx="7406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</a:rPr>
              <a:t>围绕本地项目的语义查找、引用分析、符号级编辑与项目记忆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498348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4453128"/>
            <a:ext cx="4581144" cy="6492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</a:rPr>
              <a:t>serena.exe start-mcp-server --context codex
--enable-web-dashboard false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051560"/>
            <a:ext cx="2377440" cy="65836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0" y="1243584"/>
            <a:ext cx="23774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find_symbol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057400"/>
            <a:ext cx="2011680" cy="65836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0" y="2249424"/>
            <a:ext cx="20116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references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154680"/>
            <a:ext cx="2286000" cy="65836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3346704"/>
            <a:ext cx="2286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4343400"/>
            <a:ext cx="1874519" cy="658368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4535424"/>
            <a:ext cx="1874519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editing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41D2D"/>
                </a:solidFill>
                <a:latin typeface="Microsoft YaHei"/>
              </a:rPr>
              <a:t>一句话定位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80467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Microsoft YaHei"/>
              </a:rPr>
              <a:t>Serena 是 Codex 连接本地代码库的语义操作层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43000"/>
            <a:ext cx="1143000" cy="411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4747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73152" cy="3063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306323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不是搜索引擎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48840"/>
            <a:ext cx="3063239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</a:rPr>
              <a:t>它不负责查互联网文档，也不是替代 Context7。它关注你的本地项目：文件、符号、引用和修改点。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4747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73152" cy="30632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764792"/>
            <a:ext cx="306323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更像 IDE 后端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48840"/>
            <a:ext cx="3063239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</a:rPr>
              <a:t>它提供类似跳转定义、查找引用、文件概览、按函数/类编辑的能力，让 AI 少做纯文本猜测。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1600200"/>
            <a:ext cx="32461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11312" y="1600200"/>
            <a:ext cx="73152" cy="30632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9912" y="1764792"/>
            <a:ext cx="283463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可沉淀项目知识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148840"/>
            <a:ext cx="2834639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</a:rPr>
              <a:t>通过 onboarding 和 memory 记录项目结构、测试命令、约定和长期上下文。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41D2D"/>
                </a:solidFill>
                <a:latin typeface="Microsoft YaHei"/>
              </a:rPr>
              <a:t>它解决的问题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80467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Microsoft YaHei"/>
              </a:rPr>
              <a:t>大项目里，文本搜索能找到线索，但语义工具能降低误判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43000"/>
            <a:ext cx="1143000" cy="411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102870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417320"/>
            <a:ext cx="73152" cy="8961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1581912"/>
            <a:ext cx="98755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定位慢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65960"/>
            <a:ext cx="9875520" cy="21031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</a:rPr>
              <a:t>函数名常见、目录复杂、同名概念多，全文搜索需要大量人工排除。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96312"/>
            <a:ext cx="102870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2496312"/>
            <a:ext cx="73152" cy="89611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2660904"/>
            <a:ext cx="98755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引用不准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44952"/>
            <a:ext cx="9875520" cy="21031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</a:rPr>
              <a:t>字符串匹配无法区分定义、调用、注释、测试数据和旧代码。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575304"/>
            <a:ext cx="102870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3575304"/>
            <a:ext cx="73152" cy="89611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3739896"/>
            <a:ext cx="98755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修改风险高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23944"/>
            <a:ext cx="9875520" cy="21031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</a:rPr>
              <a:t>直接替换文本容易改错范围，尤其是类方法、重载、嵌套函数。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54296"/>
            <a:ext cx="102870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4654296"/>
            <a:ext cx="73152" cy="8961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818888"/>
            <a:ext cx="98755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上下文易丢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202936"/>
            <a:ext cx="9875520" cy="21031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</a:rPr>
              <a:t>每次新任务都重新摸索项目结构、命令和约定，成本高。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41D2D"/>
                </a:solidFill>
                <a:latin typeface="Microsoft YaHei"/>
              </a:rPr>
              <a:t>Serena 在 Codex 中的位置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80467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Microsoft YaHei"/>
              </a:rPr>
              <a:t>MCP server 把本地语义能力暴露成工具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43000"/>
            <a:ext cx="1143000" cy="411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1508760" cy="7863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1508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用户需求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560320"/>
            <a:ext cx="1508760" cy="786384"/>
          </a:xfrm>
          <a:prstGeom prst="roundRect">
            <a:avLst/>
          </a:prstGeom>
          <a:solidFill>
            <a:srgbClr val="141D2D"/>
          </a:solidFill>
          <a:ln>
            <a:solidFill>
              <a:srgbClr val="14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40" y="2816352"/>
            <a:ext cx="1508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Codex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560320"/>
            <a:ext cx="1508760" cy="786384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2816352"/>
            <a:ext cx="1508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Serena MCP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2560320"/>
            <a:ext cx="1508760" cy="786384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78040" y="2816352"/>
            <a:ext cx="1508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语言服务 / 索引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2560320"/>
            <a:ext cx="1508760" cy="786384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64040" y="2816352"/>
            <a:ext cx="1508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本地代码库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31720" y="2953512"/>
            <a:ext cx="502920" cy="0"/>
          </a:xfrm>
          <a:prstGeom prst="line">
            <a:avLst/>
          </a:prstGeom>
          <a:ln w="2540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43400" y="2953512"/>
            <a:ext cx="548640" cy="0"/>
          </a:xfrm>
          <a:prstGeom prst="line">
            <a:avLst/>
          </a:prstGeom>
          <a:ln w="2540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800" y="2953512"/>
            <a:ext cx="777240" cy="0"/>
          </a:xfrm>
          <a:prstGeom prst="line">
            <a:avLst/>
          </a:prstGeom>
          <a:ln w="2540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86800" y="2953512"/>
            <a:ext cx="777240" cy="0"/>
          </a:xfrm>
          <a:prstGeom prst="line">
            <a:avLst/>
          </a:prstGeom>
          <a:ln w="25400">
            <a:solidFill>
              <a:srgbClr val="65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43000" y="4343400"/>
            <a:ext cx="9784080" cy="11430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44168" y="4544568"/>
            <a:ext cx="9381744" cy="7406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</a:rPr>
              <a:t>[mcp_servers.serena]
type = "stdio"
command = "C:/Users/.../serena.exe"
args = ["start-mcp-server", "--context", "codex"]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41D2D"/>
                </a:solidFill>
                <a:latin typeface="Microsoft YaHei"/>
              </a:rPr>
              <a:t>核心工具矩阵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80467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Microsoft YaHei"/>
              </a:rPr>
              <a:t>你本机 Serena 暴露出来的主要能力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43000"/>
            <a:ext cx="1143000" cy="411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874519" cy="310896"/>
          </a:xfrm>
          <a:prstGeom prst="roundRect">
            <a:avLst/>
          </a:prstGeom>
          <a:solidFill>
            <a:srgbClr val="141D2D"/>
          </a:solidFill>
          <a:ln>
            <a:solidFill>
              <a:srgbClr val="14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472184"/>
            <a:ext cx="1874519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类别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42615" y="1417320"/>
            <a:ext cx="4663440" cy="310896"/>
          </a:xfrm>
          <a:prstGeom prst="roundRect">
            <a:avLst/>
          </a:prstGeom>
          <a:solidFill>
            <a:srgbClr val="141D2D"/>
          </a:solidFill>
          <a:ln>
            <a:solidFill>
              <a:srgbClr val="14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42615" y="1472184"/>
            <a:ext cx="46634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工具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15783" y="1417320"/>
            <a:ext cx="4297680" cy="310896"/>
          </a:xfrm>
          <a:prstGeom prst="roundRect">
            <a:avLst/>
          </a:prstGeom>
          <a:solidFill>
            <a:srgbClr val="141D2D"/>
          </a:solidFill>
          <a:ln>
            <a:solidFill>
              <a:srgbClr val="14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15783" y="1472184"/>
            <a:ext cx="42976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用途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892808"/>
            <a:ext cx="187451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029968"/>
            <a:ext cx="165506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Microsoft YaHei"/>
              </a:rPr>
              <a:t>项目与目录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42615" y="1892808"/>
            <a:ext cx="4663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52344" y="2029968"/>
            <a:ext cx="444398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Microsoft YaHei"/>
              </a:rPr>
              <a:t>activate_project, list_dir, find_file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15783" y="1892808"/>
            <a:ext cx="42976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25511" y="2029968"/>
            <a:ext cx="40782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Microsoft YaHei"/>
              </a:rPr>
              <a:t>选定项目，快速定位文件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606040"/>
            <a:ext cx="1874519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2743200"/>
            <a:ext cx="165506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Microsoft YaHei"/>
              </a:rPr>
              <a:t>符号理解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42615" y="2606040"/>
            <a:ext cx="466344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52344" y="2743200"/>
            <a:ext cx="444398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Microsoft YaHei"/>
              </a:rPr>
              <a:t>get_symbols_overview, find_symbol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15783" y="2606040"/>
            <a:ext cx="429768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25511" y="2743200"/>
            <a:ext cx="40782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Microsoft YaHei"/>
              </a:rPr>
              <a:t>看清文件结构，按类/函数查找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319272"/>
            <a:ext cx="187451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8096" y="3456432"/>
            <a:ext cx="165506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Microsoft YaHei"/>
              </a:rPr>
              <a:t>引用分析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42615" y="3319272"/>
            <a:ext cx="4663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52344" y="3456432"/>
            <a:ext cx="444398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Microsoft YaHei"/>
              </a:rPr>
              <a:t>find_referencing_symbols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15783" y="3319272"/>
            <a:ext cx="42976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25511" y="3456432"/>
            <a:ext cx="40782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Microsoft YaHei"/>
              </a:rPr>
              <a:t>确认谁在调用某个符号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032504"/>
            <a:ext cx="1874519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" y="4169664"/>
            <a:ext cx="165506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Microsoft YaHei"/>
              </a:rPr>
              <a:t>代码修改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42615" y="4032504"/>
            <a:ext cx="466344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52344" y="4169664"/>
            <a:ext cx="444398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Microsoft YaHei"/>
              </a:rPr>
              <a:t>replace_symbol_body, insert_before_symbol, insert_after_symbol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15783" y="4032504"/>
            <a:ext cx="4297680" cy="658368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25511" y="4169664"/>
            <a:ext cx="40782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Microsoft YaHei"/>
              </a:rPr>
              <a:t>按符号边界进行更精确编辑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745736"/>
            <a:ext cx="187451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8096" y="4882896"/>
            <a:ext cx="165506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Microsoft YaHei"/>
              </a:rPr>
              <a:t>项目记忆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42615" y="4745736"/>
            <a:ext cx="4663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52344" y="4882896"/>
            <a:ext cx="4443983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Microsoft YaHei"/>
              </a:rPr>
              <a:t>onboarding, write_memory, read_memory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15783" y="4745736"/>
            <a:ext cx="42976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25511" y="4882896"/>
            <a:ext cx="407822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Microsoft YaHei"/>
              </a:rPr>
              <a:t>保存项目约定和长期上下文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41D2D"/>
                </a:solidFill>
                <a:latin typeface="Microsoft YaHei"/>
              </a:rPr>
              <a:t>和普通搜索的区别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80467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Microsoft YaHei"/>
              </a:rPr>
              <a:t>rg 很快，Serena 更懂代码结构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43000"/>
            <a:ext cx="1143000" cy="411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3931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41D2D"/>
                </a:solidFill>
                <a:latin typeface="Microsoft YaHei"/>
              </a:rPr>
              <a:t>没有 Serena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417320"/>
            <a:ext cx="3931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41D2D"/>
                </a:solidFill>
                <a:latin typeface="Microsoft YaHei"/>
              </a:rPr>
              <a:t>有 Serena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384048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Microsoft YaHei"/>
              </a:defRPr>
            </a:pPr>
            <a:r>
              <a:t>rg "login\("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Microsoft YaHei"/>
              </a:defRPr>
            </a:pPr>
            <a:r>
              <a:t>读取候选文件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Microsoft YaHei"/>
              </a:defRPr>
            </a:pPr>
            <a:r>
              <a:t>人工判断定义/调用/注释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Microsoft YaHei"/>
              </a:defRPr>
            </a:pPr>
            <a:r>
              <a:t>用测试和类型检查兜底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011680"/>
            <a:ext cx="384048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Microsoft YaHei"/>
              </a:defRPr>
            </a:pPr>
            <a:r>
              <a:t>find_symbol(login)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Microsoft YaHei"/>
              </a:defRPr>
            </a:pPr>
            <a:r>
              <a:t>find_referencing_symbols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Microsoft YaHei"/>
              </a:defRPr>
            </a:pPr>
            <a:r>
              <a:t>按符号边界替换函数体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  <a:latin typeface="Microsoft YaHei"/>
              </a:defRPr>
            </a:pPr>
            <a:r>
              <a:t>结合测试验证行为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74920" y="3063240"/>
            <a:ext cx="13258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36592" y="3429000"/>
            <a:ext cx="20574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从文本匹配升级到语义定位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41D2D"/>
                </a:solidFill>
                <a:latin typeface="Microsoft YaHei"/>
              </a:rPr>
              <a:t>典型工作流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80467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Microsoft YaHei"/>
              </a:rPr>
              <a:t>从理解项目到完成修改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43000"/>
            <a:ext cx="1143000" cy="411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475488" cy="47548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82495"/>
            <a:ext cx="4754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72768"/>
            <a:ext cx="2377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激活项目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591056"/>
            <a:ext cx="6126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Microsoft YaHei"/>
              </a:rPr>
              <a:t>activate_project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267712"/>
            <a:ext cx="475488" cy="475488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4754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86000"/>
            <a:ext cx="2377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项目概览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304288"/>
            <a:ext cx="6126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Microsoft YaHei"/>
              </a:rPr>
              <a:t>onboarding / list_dir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980944"/>
            <a:ext cx="475488" cy="47548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4754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999232"/>
            <a:ext cx="2377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定位符号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017520"/>
            <a:ext cx="6126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Microsoft YaHei"/>
              </a:rPr>
              <a:t>find_symbol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694176"/>
            <a:ext cx="475488" cy="475488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822191"/>
            <a:ext cx="4754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712463"/>
            <a:ext cx="2377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查找引用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730752"/>
            <a:ext cx="6126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Microsoft YaHei"/>
              </a:rPr>
              <a:t>find_referencing_symbols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407408"/>
            <a:ext cx="475488" cy="47548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535424"/>
            <a:ext cx="4754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425696"/>
            <a:ext cx="2377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精确编辑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443984"/>
            <a:ext cx="6126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Microsoft YaHei"/>
              </a:rPr>
              <a:t>replace_symbol_body / insert_after_symbol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120640"/>
            <a:ext cx="475488" cy="475488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248656"/>
            <a:ext cx="475488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138928"/>
            <a:ext cx="2377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验证结果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157216"/>
            <a:ext cx="6126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Microsoft YaHei"/>
              </a:rPr>
              <a:t>测试、类型检查、运行应用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41D2D"/>
                </a:solidFill>
                <a:latin typeface="Microsoft YaHei"/>
              </a:rPr>
              <a:t>实战例子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80467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Microsoft YaHei"/>
              </a:rPr>
              <a:t>需求：找出 login 方法并评估修改影响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43000"/>
            <a:ext cx="1143000" cy="411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5440680" cy="36118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709928"/>
            <a:ext cx="5038344" cy="32095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Microsoft YaHei"/>
              </a:rPr>
              <a:t>用户：找一下 login 方法在哪些地方被调用，改登录失败提示
Serena 路线：
1. find_symbol: 定位 login 定义
2. find_referencing_symbols: 找调用方
3. replace_symbol_body: 只改目标函数
4. 运行测试或类型检查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600200"/>
            <a:ext cx="4526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29400" y="1600200"/>
            <a:ext cx="73152" cy="10058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1764792"/>
            <a:ext cx="4114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收益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48840"/>
            <a:ext cx="4114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</a:rPr>
              <a:t>减少误改：不会把注释、文案或无关同名函数当成调用点。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834640"/>
            <a:ext cx="4526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29400" y="2834640"/>
            <a:ext cx="73152" cy="10058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2999232"/>
            <a:ext cx="4114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收益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383280"/>
            <a:ext cx="4114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</a:rPr>
              <a:t>上下文更完整：先看谁调用，再决定修改是否影响接口契约。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4069080"/>
            <a:ext cx="4526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29400" y="4069080"/>
            <a:ext cx="73152" cy="10058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4233672"/>
            <a:ext cx="4114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收益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617720"/>
            <a:ext cx="4114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</a:rPr>
              <a:t>编辑范围更清晰：围绕符号边界操作，代码审查更容易。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41D2D"/>
                </a:solidFill>
                <a:latin typeface="Microsoft YaHei"/>
              </a:rPr>
              <a:t>使用建议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80467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5748B"/>
                </a:solidFill>
                <a:latin typeface="Microsoft YaHei"/>
              </a:rPr>
              <a:t>把 Serena 当成语义导航仪，而不是万能自动驾驶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43000"/>
            <a:ext cx="1143000" cy="411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508760"/>
            <a:ext cx="33375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508760"/>
            <a:ext cx="73152" cy="31546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673351"/>
            <a:ext cx="292607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适合优先用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2926079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</a:rPr>
              <a:t>跨文件重构
查找函数/类引用
理解陌生项目
按函数或类做局部修改
沉淀项目命令和约定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3375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73152" cy="3154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673351"/>
            <a:ext cx="292607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仍要配合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57400"/>
            <a:ext cx="2926079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 dirty="0" err="1">
                <a:solidFill>
                  <a:srgbClr val="2D3748"/>
                </a:solidFill>
                <a:latin typeface="Microsoft YaHei"/>
              </a:rPr>
              <a:t>rg</a:t>
            </a:r>
            <a:r>
              <a:rPr sz="1050" b="0" dirty="0">
                <a:solidFill>
                  <a:srgbClr val="2D3748"/>
                </a:solidFill>
                <a:latin typeface="Microsoft YaHei"/>
              </a:rPr>
              <a:t> </a:t>
            </a:r>
            <a:r>
              <a:rPr sz="1050" b="0" dirty="0" err="1">
                <a:solidFill>
                  <a:srgbClr val="2D3748"/>
                </a:solidFill>
                <a:latin typeface="Microsoft YaHei"/>
              </a:rPr>
              <a:t>全文搜索</a:t>
            </a:r>
            <a:r>
              <a:rPr sz="1050" b="0" dirty="0">
                <a:solidFill>
                  <a:srgbClr val="2D3748"/>
                </a:solidFill>
                <a:latin typeface="Microsoft YaHei"/>
              </a:rPr>
              <a:t>
</a:t>
            </a:r>
            <a:r>
              <a:rPr sz="1050" b="0" dirty="0" err="1">
                <a:solidFill>
                  <a:srgbClr val="2D3748"/>
                </a:solidFill>
                <a:latin typeface="Microsoft YaHei"/>
              </a:rPr>
              <a:t>测试和类型检查</a:t>
            </a:r>
            <a:r>
              <a:rPr sz="1050" b="0" dirty="0">
                <a:solidFill>
                  <a:srgbClr val="2D3748"/>
                </a:solidFill>
                <a:latin typeface="Microsoft YaHei"/>
              </a:rPr>
              <a:t>
</a:t>
            </a:r>
            <a:r>
              <a:rPr sz="1050" b="0" dirty="0" err="1">
                <a:solidFill>
                  <a:srgbClr val="2D3748"/>
                </a:solidFill>
                <a:latin typeface="Microsoft YaHei"/>
              </a:rPr>
              <a:t>代码审查</a:t>
            </a:r>
            <a:r>
              <a:rPr sz="1050" b="0" dirty="0">
                <a:solidFill>
                  <a:srgbClr val="2D3748"/>
                </a:solidFill>
                <a:latin typeface="Microsoft YaHei"/>
              </a:rPr>
              <a:t>
</a:t>
            </a:r>
            <a:r>
              <a:rPr sz="1050" b="0" dirty="0" err="1">
                <a:solidFill>
                  <a:srgbClr val="2D3748"/>
                </a:solidFill>
                <a:latin typeface="Microsoft YaHei"/>
              </a:rPr>
              <a:t>框架文档查询</a:t>
            </a:r>
            <a:r>
              <a:rPr sz="1050" b="0" dirty="0">
                <a:solidFill>
                  <a:srgbClr val="2D3748"/>
                </a:solidFill>
                <a:latin typeface="Microsoft YaHei"/>
              </a:rPr>
              <a:t>
</a:t>
            </a:r>
            <a:r>
              <a:rPr sz="1050" b="0" dirty="0" err="1">
                <a:solidFill>
                  <a:srgbClr val="2D3748"/>
                </a:solidFill>
                <a:latin typeface="Microsoft YaHei"/>
              </a:rPr>
              <a:t>运行时日志</a:t>
            </a:r>
            <a:endParaRPr sz="1050" b="0" dirty="0">
              <a:solidFill>
                <a:srgbClr val="2D3748"/>
              </a:solidFill>
              <a:latin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01000" y="1508760"/>
            <a:ext cx="33375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508760"/>
            <a:ext cx="73152" cy="31546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673351"/>
            <a:ext cx="292607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41D2D"/>
                </a:solidFill>
                <a:latin typeface="Microsoft YaHei"/>
              </a:rPr>
              <a:t>注意边界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26079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Microsoft YaHei"/>
              </a:rPr>
              <a:t>动态调用和反射可能难以完整识别
生成代码/超大仓库需要耐心
未 onboarding 时上下文较少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2011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78408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rPr dirty="0"/>
              <a:t>Serena 让 Codex </a:t>
            </a:r>
            <a:r>
              <a:rPr dirty="0" err="1"/>
              <a:t>更像在使用</a:t>
            </a:r>
            <a:r>
              <a:rPr dirty="0"/>
              <a:t> </a:t>
            </a:r>
            <a:r>
              <a:rPr dirty="0" err="1"/>
              <a:t>IDE：能按符号理解、查引用、做精确编辑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rPr dirty="0" err="1"/>
              <a:t>它不替代</a:t>
            </a:r>
            <a:r>
              <a:rPr dirty="0"/>
              <a:t> </a:t>
            </a:r>
            <a:r>
              <a:rPr dirty="0" err="1"/>
              <a:t>rg、测试和文档查询，而是把本地代码理解这一步做得更稳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Microsoft YaHei"/>
              </a:defRPr>
            </a:pPr>
            <a:r>
              <a:rPr dirty="0" err="1"/>
              <a:t>最佳组合：Serena</a:t>
            </a:r>
            <a:r>
              <a:rPr dirty="0"/>
              <a:t> </a:t>
            </a:r>
            <a:r>
              <a:rPr dirty="0" err="1"/>
              <a:t>理解本地项目，Codex</a:t>
            </a:r>
            <a:r>
              <a:rPr dirty="0"/>
              <a:t> </a:t>
            </a:r>
            <a:r>
              <a:rPr dirty="0" err="1"/>
              <a:t>负责推理、实现和验证</a:t>
            </a:r>
            <a:r>
              <a:rPr dirty="0"/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4709160"/>
            <a:ext cx="4663440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" y="4910328"/>
            <a:ext cx="4261103" cy="6035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 dirty="0">
                <a:solidFill>
                  <a:srgbClr val="E2E8F0"/>
                </a:solidFill>
                <a:latin typeface="Microsoft YaHei"/>
              </a:rPr>
              <a:t>Serena   = </a:t>
            </a:r>
            <a:r>
              <a:rPr sz="1200" b="0" dirty="0" err="1">
                <a:solidFill>
                  <a:srgbClr val="E2E8F0"/>
                </a:solidFill>
                <a:latin typeface="Microsoft YaHei"/>
              </a:rPr>
              <a:t>本地代码语义</a:t>
            </a:r>
            <a:r>
              <a:rPr sz="1200" b="0" dirty="0">
                <a:solidFill>
                  <a:srgbClr val="E2E8F0"/>
                </a:solidFill>
                <a:latin typeface="Microsoft YaHei"/>
              </a:rPr>
              <a:t>
Codex    = </a:t>
            </a:r>
            <a:r>
              <a:rPr sz="1200" b="0" dirty="0" err="1">
                <a:solidFill>
                  <a:srgbClr val="E2E8F0"/>
                </a:solidFill>
                <a:latin typeface="Microsoft YaHei"/>
              </a:rPr>
              <a:t>协作执行与验证</a:t>
            </a:r>
            <a:endParaRPr sz="1200" b="0" dirty="0">
              <a:solidFill>
                <a:srgbClr val="E2E8F0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92840" y="642823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5748B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484</Words>
  <Application>Microsoft Office PowerPoint</Application>
  <PresentationFormat>宽屏</PresentationFormat>
  <Paragraphs>119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康 何</cp:lastModifiedBy>
  <cp:revision>3</cp:revision>
  <dcterms:created xsi:type="dcterms:W3CDTF">2013-01-27T09:14:16Z</dcterms:created>
  <dcterms:modified xsi:type="dcterms:W3CDTF">2026-06-17T03:05:38Z</dcterms:modified>
  <cp:category/>
</cp:coreProperties>
</file>